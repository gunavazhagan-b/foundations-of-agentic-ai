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462683"/>
            <a:ext cx="7772400" cy="131491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0" y="2057400"/>
            <a:ext cx="9445752" cy="457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331720"/>
            <a:ext cx="10725912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4400" b="1" dirty="0" err="1">
                <a:solidFill>
                  <a:srgbClr val="6A1B9A"/>
                </a:solidFill>
                <a:latin typeface="Calibri"/>
              </a:rPr>
              <a:t>PeerLens</a:t>
            </a:r>
            <a:endParaRPr sz="4400" b="1" dirty="0">
              <a:solidFill>
                <a:srgbClr val="6A1B9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3063240"/>
            <a:ext cx="107259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600" b="0" dirty="0">
                <a:solidFill>
                  <a:srgbClr val="1F232B"/>
                </a:solidFill>
                <a:latin typeface="Calibri"/>
              </a:rPr>
              <a:t>Multi-Agent Reflective Review for Research Drafts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11880"/>
            <a:ext cx="10725912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0">
                <a:solidFill>
                  <a:srgbClr val="555E6B"/>
                </a:solidFill>
                <a:latin typeface="Calibri"/>
              </a:rPr>
              <a:t>AD23731 – Foundations of Agentic AI  ·  Mini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4434840"/>
            <a:ext cx="45720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6A1B9A"/>
                </a:solidFill>
                <a:latin typeface="Calibri"/>
              </a:rPr>
              <a:t>Done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4892040"/>
            <a:ext cx="4572000" cy="92333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dirty="0">
                <a:solidFill>
                  <a:srgbClr val="1F232B"/>
                </a:solidFill>
                <a:latin typeface="Calibri"/>
              </a:rPr>
              <a:t>1.</a:t>
            </a:r>
            <a:r>
              <a:rPr lang="en-IN" b="1" dirty="0">
                <a:solidFill>
                  <a:srgbClr val="1F232B"/>
                </a:solidFill>
                <a:latin typeface="Calibri"/>
              </a:rPr>
              <a:t> </a:t>
            </a:r>
            <a:r>
              <a:rPr lang="en-IN" sz="1800" b="1" dirty="0">
                <a:solidFill>
                  <a:srgbClr val="1F232B"/>
                </a:solidFill>
                <a:latin typeface="Calibri"/>
              </a:rPr>
              <a:t>Gunavazhagan B     231501055</a:t>
            </a:r>
            <a:r>
              <a:rPr sz="1800" b="1" dirty="0">
                <a:solidFill>
                  <a:srgbClr val="1F232B"/>
                </a:solidFill>
                <a:latin typeface="Calibri"/>
              </a:rPr>
              <a:t>  </a:t>
            </a:r>
          </a:p>
          <a:p>
            <a:r>
              <a:rPr sz="1800" b="1" dirty="0">
                <a:solidFill>
                  <a:srgbClr val="1F232B"/>
                </a:solidFill>
                <a:latin typeface="Calibri"/>
              </a:rPr>
              <a:t>2. </a:t>
            </a:r>
            <a:r>
              <a:rPr lang="en-IN" b="1" dirty="0" err="1">
                <a:solidFill>
                  <a:srgbClr val="1F232B"/>
                </a:solidFill>
              </a:rPr>
              <a:t>Jevanandham</a:t>
            </a:r>
            <a:r>
              <a:rPr lang="en-IN" b="1" dirty="0">
                <a:solidFill>
                  <a:srgbClr val="1F232B"/>
                </a:solidFill>
              </a:rPr>
              <a:t> S       231501069</a:t>
            </a:r>
          </a:p>
          <a:p>
            <a:r>
              <a:rPr sz="1800" b="1" dirty="0">
                <a:solidFill>
                  <a:srgbClr val="1F232B"/>
                </a:solidFill>
                <a:latin typeface="Calibri"/>
              </a:rPr>
              <a:t>3.</a:t>
            </a:r>
            <a:r>
              <a:rPr lang="en-IN" sz="1800" b="1" dirty="0">
                <a:solidFill>
                  <a:srgbClr val="1F232B"/>
                </a:solidFill>
                <a:latin typeface="Calibri"/>
              </a:rPr>
              <a:t> </a:t>
            </a:r>
            <a:r>
              <a:rPr lang="en-IN" b="1" dirty="0"/>
              <a:t>Nimal M G               231501110</a:t>
            </a:r>
            <a:endParaRPr sz="1800" b="1" dirty="0">
              <a:solidFill>
                <a:srgbClr val="1F232B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49440" y="4434840"/>
            <a:ext cx="3840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2000" b="1">
                <a:solidFill>
                  <a:srgbClr val="6A1B9A"/>
                </a:solidFill>
                <a:latin typeface="Calibri"/>
              </a:rPr>
              <a:t>Submitted 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4892040"/>
            <a:ext cx="3840480" cy="6463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lang="en-IN" sz="1800" b="1" dirty="0" err="1">
                <a:solidFill>
                  <a:srgbClr val="1F232B"/>
                </a:solidFill>
                <a:latin typeface="Calibri"/>
              </a:rPr>
              <a:t>Dr.M.</a:t>
            </a:r>
            <a:r>
              <a:rPr lang="en-IN" b="1" dirty="0" err="1"/>
              <a:t>Soundarya</a:t>
            </a:r>
            <a:endParaRPr lang="en-IN" b="1" dirty="0"/>
          </a:p>
          <a:p>
            <a:pPr algn="r"/>
            <a:endParaRPr sz="1800" b="0" dirty="0">
              <a:solidFill>
                <a:srgbClr val="1F232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1472"/>
            <a:ext cx="3931919" cy="66519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87552"/>
            <a:ext cx="12191695" cy="457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0" y="384048"/>
            <a:ext cx="3566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300" b="0">
                <a:solidFill>
                  <a:srgbClr val="555E6B"/>
                </a:solidFill>
                <a:latin typeface="Calibri"/>
              </a:rPr>
              <a:t>PeerLens · Mini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6A1B9A"/>
                </a:solidFill>
                <a:latin typeface="Calibri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0">
                <a:solidFill>
                  <a:srgbClr val="555E6B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>
                <a:solidFill>
                  <a:srgbClr val="6A1B9A"/>
                </a:solidFill>
                <a:latin typeface="Calibri"/>
              </a:rPr>
              <a:t>▪  </a:t>
            </a:r>
            <a:r>
              <a:rPr sz="2000" b="1">
                <a:solidFill>
                  <a:srgbClr val="1F232B"/>
                </a:solidFill>
                <a:latin typeface="Calibri"/>
              </a:rPr>
              <a:t>Feedback comes too late</a:t>
            </a:r>
            <a:r>
              <a:rPr sz="2000">
                <a:solidFill>
                  <a:srgbClr val="555E6B"/>
                </a:solidFill>
                <a:latin typeface="Calibri"/>
              </a:rPr>
              <a:t> – students get detailed criticism only at the final review or from conference reviewers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6A1B9A"/>
                </a:solidFill>
                <a:latin typeface="Calibri"/>
              </a:rPr>
              <a:t>▪  </a:t>
            </a:r>
            <a:r>
              <a:rPr sz="2000" b="1">
                <a:solidFill>
                  <a:srgbClr val="1F232B"/>
                </a:solidFill>
                <a:latin typeface="Calibri"/>
              </a:rPr>
              <a:t>Self-review misses blind spots</a:t>
            </a:r>
            <a:r>
              <a:rPr sz="2000">
                <a:solidFill>
                  <a:srgbClr val="555E6B"/>
                </a:solidFill>
                <a:latin typeface="Calibri"/>
              </a:rPr>
              <a:t> – the author is the person least able to see their own mistakes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6A1B9A"/>
                </a:solidFill>
                <a:latin typeface="Calibri"/>
              </a:rPr>
              <a:t>▪  </a:t>
            </a:r>
            <a:r>
              <a:rPr sz="2000" b="1">
                <a:solidFill>
                  <a:srgbClr val="1F232B"/>
                </a:solidFill>
                <a:latin typeface="Calibri"/>
              </a:rPr>
              <a:t>Single-prompt AI reviews are generic</a:t>
            </a:r>
            <a:r>
              <a:rPr sz="2000">
                <a:solidFill>
                  <a:srgbClr val="555E6B"/>
                </a:solidFill>
                <a:latin typeface="Calibri"/>
              </a:rPr>
              <a:t> – one pass mixes everything, cannot check literature and does not involve the author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194560"/>
            <a:ext cx="3749039" cy="3291840"/>
          </a:xfrm>
          <a:prstGeom prst="roundRect">
            <a:avLst>
              <a:gd name="adj" fmla="val 8000"/>
            </a:avLst>
          </a:prstGeom>
          <a:solidFill>
            <a:srgbClr val="F5F1FA"/>
          </a:solidFill>
          <a:ln w="19050">
            <a:solidFill>
              <a:srgbClr val="0F85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0" y="2359152"/>
            <a:ext cx="3383279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>
                <a:solidFill>
                  <a:srgbClr val="0F857E"/>
                </a:solidFill>
                <a:latin typeface="Calibri"/>
              </a:rPr>
              <a:t>Our 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834640"/>
            <a:ext cx="3383279" cy="2560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555E6B"/>
                </a:solidFill>
                <a:latin typeface="Calibri"/>
              </a:rPr>
              <a:t>Give every author a small, on-demand AI review panel that finds real problems, shows evidence for each one, and lets the author decide – before submission.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1472"/>
            <a:ext cx="3931919" cy="66519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87552"/>
            <a:ext cx="12191695" cy="457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0" y="384048"/>
            <a:ext cx="3566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300" b="0">
                <a:solidFill>
                  <a:srgbClr val="555E6B"/>
                </a:solidFill>
                <a:latin typeface="Calibri"/>
              </a:rPr>
              <a:t>PeerLens · Mini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6A1B9A"/>
                </a:solidFill>
                <a:latin typeface="Calibri"/>
              </a:rP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0">
                <a:solidFill>
                  <a:srgbClr val="555E6B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6A1B9A"/>
                </a:solidFill>
                <a:latin typeface="Calibri"/>
              </a:rPr>
              <a:t>▪  </a:t>
            </a:r>
            <a:r>
              <a:rPr sz="2000" b="1">
                <a:solidFill>
                  <a:srgbClr val="1F232B"/>
                </a:solidFill>
                <a:latin typeface="Calibri"/>
              </a:rPr>
              <a:t>Build a multi-agent review panel</a:t>
            </a:r>
            <a:r>
              <a:rPr sz="2000">
                <a:solidFill>
                  <a:srgbClr val="555E6B"/>
                </a:solidFill>
                <a:latin typeface="Calibri"/>
              </a:rPr>
              <a:t> – rigor, clarity and novelty reviewers with a meta-reviewer, using LangGraph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6A1B9A"/>
                </a:solidFill>
                <a:latin typeface="Calibri"/>
              </a:rPr>
              <a:t>▪  </a:t>
            </a:r>
            <a:r>
              <a:rPr sz="2000" b="1">
                <a:solidFill>
                  <a:srgbClr val="1F232B"/>
                </a:solidFill>
                <a:latin typeface="Calibri"/>
              </a:rPr>
              <a:t>Implement agentic RAG</a:t>
            </a:r>
            <a:r>
              <a:rPr sz="2000">
                <a:solidFill>
                  <a:srgbClr val="555E6B"/>
                </a:solidFill>
                <a:latin typeface="Calibri"/>
              </a:rPr>
              <a:t> – compare it with No-RAG and Basic RAG baselines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6A1B9A"/>
                </a:solidFill>
                <a:latin typeface="Calibri"/>
              </a:rPr>
              <a:t>▪  </a:t>
            </a:r>
            <a:r>
              <a:rPr sz="2000" b="1">
                <a:solidFill>
                  <a:srgbClr val="1F232B"/>
                </a:solidFill>
                <a:latin typeface="Calibri"/>
              </a:rPr>
              <a:t>Ground every finding</a:t>
            </a:r>
            <a:r>
              <a:rPr sz="2000">
                <a:solidFill>
                  <a:srgbClr val="555E6B"/>
                </a:solidFill>
                <a:latin typeface="Calibri"/>
              </a:rPr>
              <a:t> – each issue quotes the paper with a page and section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6A1B9A"/>
                </a:solidFill>
                <a:latin typeface="Calibri"/>
              </a:rPr>
              <a:t>▪  </a:t>
            </a:r>
            <a:r>
              <a:rPr sz="2000" b="1">
                <a:solidFill>
                  <a:srgbClr val="1F232B"/>
                </a:solidFill>
                <a:latin typeface="Calibri"/>
              </a:rPr>
              <a:t>Keep the human in the loop</a:t>
            </a:r>
            <a:r>
              <a:rPr sz="2000">
                <a:solidFill>
                  <a:srgbClr val="555E6B"/>
                </a:solidFill>
                <a:latin typeface="Calibri"/>
              </a:rPr>
              <a:t> – accept or dispute every issue before the report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6A1B9A"/>
                </a:solidFill>
                <a:latin typeface="Calibri"/>
              </a:rPr>
              <a:t>▪  </a:t>
            </a:r>
            <a:r>
              <a:rPr sz="2000" b="1">
                <a:solidFill>
                  <a:srgbClr val="1F232B"/>
                </a:solidFill>
                <a:latin typeface="Calibri"/>
              </a:rPr>
              <a:t>Store memory</a:t>
            </a:r>
            <a:r>
              <a:rPr sz="2000">
                <a:solidFill>
                  <a:srgbClr val="555E6B"/>
                </a:solidFill>
                <a:latin typeface="Calibri"/>
              </a:rPr>
              <a:t> – papers, reviews, decisions and revised versions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6A1B9A"/>
                </a:solidFill>
                <a:latin typeface="Calibri"/>
              </a:rPr>
              <a:t>▪  </a:t>
            </a:r>
            <a:r>
              <a:rPr sz="2000" b="1">
                <a:solidFill>
                  <a:srgbClr val="1F232B"/>
                </a:solidFill>
                <a:latin typeface="Calibri"/>
              </a:rPr>
              <a:t>Evaluate end to end</a:t>
            </a:r>
            <a:r>
              <a:rPr sz="2000">
                <a:solidFill>
                  <a:srgbClr val="555E6B"/>
                </a:solidFill>
                <a:latin typeface="Calibri"/>
              </a:rPr>
              <a:t> – across retrieval modes and different Gemini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1472"/>
            <a:ext cx="3931919" cy="66519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87552"/>
            <a:ext cx="12191695" cy="457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0" y="384048"/>
            <a:ext cx="3566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300" b="0">
                <a:solidFill>
                  <a:srgbClr val="555E6B"/>
                </a:solidFill>
                <a:latin typeface="Calibri"/>
              </a:rPr>
              <a:t>PeerLens · Mini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6A1B9A"/>
                </a:solidFill>
                <a:latin typeface="Calibri"/>
              </a:rPr>
              <a:t>Proposed Solution – The Agent Panel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0">
                <a:solidFill>
                  <a:srgbClr val="555E6B"/>
                </a:solidFill>
                <a:latin typeface="Calibr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3474720" cy="1783080"/>
          </a:xfrm>
          <a:prstGeom prst="roundRect">
            <a:avLst>
              <a:gd name="adj" fmla="val 8000"/>
            </a:avLst>
          </a:prstGeom>
          <a:solidFill>
            <a:srgbClr val="F5F1FA"/>
          </a:solidFill>
          <a:ln w="1905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221992"/>
            <a:ext cx="31089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>
                <a:solidFill>
                  <a:srgbClr val="6A1B9A"/>
                </a:solidFill>
                <a:latin typeface="Calibri"/>
              </a:rPr>
              <a:t>Rigor Reviewer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310896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555E6B"/>
                </a:solidFill>
                <a:latin typeface="Calibri"/>
              </a:rPr>
              <a:t>Methods, statistics, formulas, data leakage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057400"/>
            <a:ext cx="3474720" cy="1783080"/>
          </a:xfrm>
          <a:prstGeom prst="roundRect">
            <a:avLst>
              <a:gd name="adj" fmla="val 8000"/>
            </a:avLst>
          </a:prstGeom>
          <a:solidFill>
            <a:srgbClr val="F5F1FA"/>
          </a:solidFill>
          <a:ln w="1905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2221992"/>
            <a:ext cx="31089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>
                <a:solidFill>
                  <a:srgbClr val="6A1B9A"/>
                </a:solidFill>
                <a:latin typeface="Calibri"/>
              </a:rPr>
              <a:t>Clarity Reviewer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697480"/>
            <a:ext cx="310896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555E6B"/>
                </a:solidFill>
                <a:latin typeface="Calibri"/>
              </a:rPr>
              <a:t>Terminology, structure, contradictions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2057400"/>
            <a:ext cx="3474720" cy="1783080"/>
          </a:xfrm>
          <a:prstGeom prst="roundRect">
            <a:avLst>
              <a:gd name="adj" fmla="val 8000"/>
            </a:avLst>
          </a:prstGeom>
          <a:solidFill>
            <a:srgbClr val="F5F1FA"/>
          </a:solidFill>
          <a:ln w="19050">
            <a:solidFill>
              <a:srgbClr val="0F85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58200" y="2221992"/>
            <a:ext cx="31089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>
                <a:solidFill>
                  <a:srgbClr val="0F857E"/>
                </a:solidFill>
                <a:latin typeface="Calibri"/>
              </a:rPr>
              <a:t>Novelty Reviewer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697480"/>
            <a:ext cx="310896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555E6B"/>
                </a:solidFill>
                <a:latin typeface="Calibri"/>
              </a:rPr>
              <a:t>Compares claims with arXiv literature (3 modes)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160520"/>
            <a:ext cx="3474720" cy="1783080"/>
          </a:xfrm>
          <a:prstGeom prst="roundRect">
            <a:avLst>
              <a:gd name="adj" fmla="val 8000"/>
            </a:avLst>
          </a:prstGeom>
          <a:solidFill>
            <a:srgbClr val="F5F1FA"/>
          </a:solidFill>
          <a:ln w="1905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325112"/>
            <a:ext cx="31089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>
                <a:solidFill>
                  <a:srgbClr val="6A1B9A"/>
                </a:solidFill>
                <a:latin typeface="Calibri"/>
              </a:rPr>
              <a:t>Meta-Reviewer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800600"/>
            <a:ext cx="310896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555E6B"/>
                </a:solidFill>
                <a:latin typeface="Calibri"/>
              </a:rPr>
              <a:t>Merges duplicates, finds conflicts, requests re-review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4160520"/>
            <a:ext cx="3474720" cy="1783080"/>
          </a:xfrm>
          <a:prstGeom prst="roundRect">
            <a:avLst>
              <a:gd name="adj" fmla="val 8000"/>
            </a:avLst>
          </a:prstGeom>
          <a:solidFill>
            <a:srgbClr val="F5F1FA"/>
          </a:solidFill>
          <a:ln w="1905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4325112"/>
            <a:ext cx="31089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>
                <a:solidFill>
                  <a:srgbClr val="6A1B9A"/>
                </a:solidFill>
                <a:latin typeface="Calibri"/>
              </a:rPr>
              <a:t>Reconsideration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800600"/>
            <a:ext cx="310896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555E6B"/>
                </a:solidFill>
                <a:latin typeface="Calibri"/>
              </a:rPr>
              <a:t>Re-examines issues the author disputes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4160520"/>
            <a:ext cx="3474720" cy="1783080"/>
          </a:xfrm>
          <a:prstGeom prst="roundRect">
            <a:avLst>
              <a:gd name="adj" fmla="val 8000"/>
            </a:avLst>
          </a:prstGeom>
          <a:solidFill>
            <a:srgbClr val="F5F1FA"/>
          </a:solidFill>
          <a:ln w="1905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58200" y="4325112"/>
            <a:ext cx="31089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>
                <a:solidFill>
                  <a:srgbClr val="6A1B9A"/>
                </a:solidFill>
                <a:latin typeface="Calibri"/>
              </a:rPr>
              <a:t>Solution Generator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4800600"/>
            <a:ext cx="310896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555E6B"/>
                </a:solidFill>
                <a:latin typeface="Calibri"/>
              </a:rPr>
              <a:t>Three-step fix plan for each issue in the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1472"/>
            <a:ext cx="3931919" cy="66519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87552"/>
            <a:ext cx="12191695" cy="457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0" y="384048"/>
            <a:ext cx="3566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300" b="0">
                <a:solidFill>
                  <a:srgbClr val="555E6B"/>
                </a:solidFill>
                <a:latin typeface="Calibri"/>
              </a:rPr>
              <a:t>PeerLens · Mini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6A1B9A"/>
                </a:solidFill>
                <a:latin typeface="Calibri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0">
                <a:solidFill>
                  <a:srgbClr val="555E6B"/>
                </a:solidFill>
                <a:latin typeface="Calibri"/>
              </a:rPr>
              <a:t>5</a:t>
            </a:r>
          </a:p>
        </p:txBody>
      </p:sp>
      <p:pic>
        <p:nvPicPr>
          <p:cNvPr id="7" name="Picture 6" descr="fig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8640" y="1874519"/>
            <a:ext cx="694423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1472"/>
            <a:ext cx="3931919" cy="66519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87552"/>
            <a:ext cx="12191695" cy="457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0" y="384048"/>
            <a:ext cx="3566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300" b="0">
                <a:solidFill>
                  <a:srgbClr val="555E6B"/>
                </a:solidFill>
                <a:latin typeface="Calibri"/>
              </a:rPr>
              <a:t>PeerLens · Mini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6A1B9A"/>
                </a:solidFill>
                <a:latin typeface="Calibri"/>
              </a:rPr>
              <a:t>Agent Workflow (LangGraph)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0">
                <a:solidFill>
                  <a:srgbClr val="555E6B"/>
                </a:solidFill>
                <a:latin typeface="Calibri"/>
              </a:rPr>
              <a:t>6</a:t>
            </a:r>
          </a:p>
        </p:txBody>
      </p:sp>
      <p:pic>
        <p:nvPicPr>
          <p:cNvPr id="7" name="Picture 6" descr="fig_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5623" y="1828800"/>
            <a:ext cx="7990274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577840"/>
            <a:ext cx="106984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0">
                <a:solidFill>
                  <a:srgbClr val="555E6B"/>
                </a:solidFill>
                <a:latin typeface="Calibri"/>
              </a:rPr>
              <a:t>Specialists review in sequence → page-coverage gate → meta-review → optional re-review (max 2) → final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1472"/>
            <a:ext cx="3931919" cy="66519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87552"/>
            <a:ext cx="12191695" cy="457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0" y="384048"/>
            <a:ext cx="3566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300" b="0">
                <a:solidFill>
                  <a:srgbClr val="555E6B"/>
                </a:solidFill>
                <a:latin typeface="Calibri"/>
              </a:rPr>
              <a:t>PeerLens · Mini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6A1B9A"/>
                </a:solidFill>
                <a:latin typeface="Calibri"/>
              </a:rPr>
              <a:t>Agentic RAG vs Baselines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0">
                <a:solidFill>
                  <a:srgbClr val="555E6B"/>
                </a:solidFill>
                <a:latin typeface="Calibri"/>
              </a:rPr>
              <a:t>7</a:t>
            </a:r>
          </a:p>
        </p:txBody>
      </p:sp>
      <p:pic>
        <p:nvPicPr>
          <p:cNvPr id="7" name="Picture 6" descr="fig_retrieval_mo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27357"/>
            <a:ext cx="7498079" cy="39748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0" y="219456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6A1B9A"/>
                </a:solidFill>
                <a:latin typeface="Calibri"/>
              </a:rPr>
              <a:t>▪  </a:t>
            </a:r>
            <a:r>
              <a:rPr sz="1700" b="1">
                <a:solidFill>
                  <a:srgbClr val="1F232B"/>
                </a:solidFill>
                <a:latin typeface="Calibri"/>
              </a:rPr>
              <a:t>arXiv search</a:t>
            </a:r>
            <a:r>
              <a:rPr sz="1700">
                <a:solidFill>
                  <a:srgbClr val="555E6B"/>
                </a:solidFill>
                <a:latin typeface="Calibri"/>
              </a:rPr>
              <a:t> – with local cache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6A1B9A"/>
                </a:solidFill>
                <a:latin typeface="Calibri"/>
              </a:rPr>
              <a:t>▪  </a:t>
            </a:r>
            <a:r>
              <a:rPr sz="1700" b="1">
                <a:solidFill>
                  <a:srgbClr val="1F232B"/>
                </a:solidFill>
                <a:latin typeface="Calibri"/>
              </a:rPr>
              <a:t>Gemini embeddings</a:t>
            </a:r>
            <a:r>
              <a:rPr sz="1700">
                <a:solidFill>
                  <a:srgbClr val="555E6B"/>
                </a:solidFill>
                <a:latin typeface="Calibri"/>
              </a:rPr>
              <a:t> – 3,072-d vectors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6A1B9A"/>
                </a:solidFill>
                <a:latin typeface="Calibri"/>
              </a:rPr>
              <a:t>▪  </a:t>
            </a:r>
            <a:r>
              <a:rPr sz="1700" b="1">
                <a:solidFill>
                  <a:srgbClr val="1F232B"/>
                </a:solidFill>
                <a:latin typeface="Calibri"/>
              </a:rPr>
              <a:t>FAISS ranking</a:t>
            </a:r>
            <a:r>
              <a:rPr sz="1700">
                <a:solidFill>
                  <a:srgbClr val="555E6B"/>
                </a:solidFill>
                <a:latin typeface="Calibri"/>
              </a:rPr>
              <a:t> – cosine similarity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6A1B9A"/>
                </a:solidFill>
                <a:latin typeface="Calibri"/>
              </a:rPr>
              <a:t>▪  </a:t>
            </a:r>
            <a:r>
              <a:rPr sz="1700" b="1">
                <a:solidFill>
                  <a:srgbClr val="1F232B"/>
                </a:solidFill>
                <a:latin typeface="Calibri"/>
              </a:rPr>
              <a:t>Agentic loop</a:t>
            </a:r>
            <a:r>
              <a:rPr sz="1700">
                <a:solidFill>
                  <a:srgbClr val="555E6B"/>
                </a:solidFill>
                <a:latin typeface="Calibri"/>
              </a:rPr>
              <a:t> – plans queries, tracks missing evidence, up to 3 rounds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1472"/>
            <a:ext cx="3931919" cy="66519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87552"/>
            <a:ext cx="12191695" cy="457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0" y="384048"/>
            <a:ext cx="3566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300" b="0">
                <a:solidFill>
                  <a:srgbClr val="555E6B"/>
                </a:solidFill>
                <a:latin typeface="Calibri"/>
              </a:rPr>
              <a:t>PeerLens · Mini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6A1B9A"/>
                </a:solidFill>
                <a:latin typeface="Calibri"/>
              </a:rPr>
              <a:t>Human-in-the-Loop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0">
                <a:solidFill>
                  <a:srgbClr val="555E6B"/>
                </a:solidFill>
                <a:latin typeface="Calibri"/>
              </a:rPr>
              <a:t>8</a:t>
            </a:r>
          </a:p>
        </p:txBody>
      </p:sp>
      <p:pic>
        <p:nvPicPr>
          <p:cNvPr id="7" name="Picture 6" descr="fig_hi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5623" y="1828800"/>
            <a:ext cx="7990274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577840"/>
            <a:ext cx="106984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0">
                <a:solidFill>
                  <a:srgbClr val="555E6B"/>
                </a:solidFill>
                <a:latin typeface="Calibri"/>
              </a:rPr>
              <a:t>The final report unlocks only after the author has answered every issue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1472"/>
            <a:ext cx="3931919" cy="66519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87552"/>
            <a:ext cx="12191695" cy="457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0" y="384048"/>
            <a:ext cx="3566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300" b="0">
                <a:solidFill>
                  <a:srgbClr val="555E6B"/>
                </a:solidFill>
                <a:latin typeface="Calibri"/>
              </a:rPr>
              <a:t>PeerLens · Mini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6A1B9A"/>
                </a:solidFill>
                <a:latin typeface="Calibri"/>
              </a:rPr>
              <a:t>Tools and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0">
                <a:solidFill>
                  <a:srgbClr val="555E6B"/>
                </a:solidFill>
                <a:latin typeface="Calibri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03120"/>
            <a:ext cx="3474720" cy="1600200"/>
          </a:xfrm>
          <a:prstGeom prst="roundRect">
            <a:avLst>
              <a:gd name="adj" fmla="val 8000"/>
            </a:avLst>
          </a:prstGeom>
          <a:solidFill>
            <a:srgbClr val="F5F1FA"/>
          </a:solidFill>
          <a:ln w="1905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267712"/>
            <a:ext cx="31089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>
                <a:solidFill>
                  <a:srgbClr val="6A1B9A"/>
                </a:solidFill>
                <a:latin typeface="Calibri"/>
              </a:rPr>
              <a:t>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31089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555E6B"/>
                </a:solidFill>
                <a:latin typeface="Calibri"/>
              </a:rPr>
              <a:t>LangGraph · LangChain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03120"/>
            <a:ext cx="3474720" cy="1600200"/>
          </a:xfrm>
          <a:prstGeom prst="roundRect">
            <a:avLst>
              <a:gd name="adj" fmla="val 8000"/>
            </a:avLst>
          </a:prstGeom>
          <a:solidFill>
            <a:srgbClr val="F5F1FA"/>
          </a:solidFill>
          <a:ln w="1905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2267712"/>
            <a:ext cx="31089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>
                <a:solidFill>
                  <a:srgbClr val="6A1B9A"/>
                </a:solidFill>
                <a:latin typeface="Calibri"/>
              </a:rPr>
              <a:t>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743200"/>
            <a:ext cx="31089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555E6B"/>
                </a:solidFill>
                <a:latin typeface="Calibri"/>
              </a:rPr>
              <a:t>Google Gemini (Flash-Lite)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2103120"/>
            <a:ext cx="3474720" cy="1600200"/>
          </a:xfrm>
          <a:prstGeom prst="roundRect">
            <a:avLst>
              <a:gd name="adj" fmla="val 8000"/>
            </a:avLst>
          </a:prstGeom>
          <a:solidFill>
            <a:srgbClr val="F5F1FA"/>
          </a:solidFill>
          <a:ln w="1905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58200" y="2267712"/>
            <a:ext cx="31089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>
                <a:solidFill>
                  <a:srgbClr val="6A1B9A"/>
                </a:solidFill>
                <a:latin typeface="Calibri"/>
              </a:rPr>
              <a:t>Retrieval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743200"/>
            <a:ext cx="31089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555E6B"/>
                </a:solidFill>
                <a:latin typeface="Calibri"/>
              </a:rPr>
              <a:t>arXiv API · Gemini embeddings · FAISS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114800"/>
            <a:ext cx="3474720" cy="1600200"/>
          </a:xfrm>
          <a:prstGeom prst="roundRect">
            <a:avLst>
              <a:gd name="adj" fmla="val 8000"/>
            </a:avLst>
          </a:prstGeom>
          <a:solidFill>
            <a:srgbClr val="F5F1FA"/>
          </a:solidFill>
          <a:ln w="1905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279392"/>
            <a:ext cx="31089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>
                <a:solidFill>
                  <a:srgbClr val="6A1B9A"/>
                </a:solidFill>
                <a:latin typeface="Calibri"/>
              </a:rP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754880"/>
            <a:ext cx="31089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555E6B"/>
                </a:solidFill>
                <a:latin typeface="Calibri"/>
              </a:rPr>
              <a:t>Python · FastAPI · Pydantic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4114800"/>
            <a:ext cx="3474720" cy="1600200"/>
          </a:xfrm>
          <a:prstGeom prst="roundRect">
            <a:avLst>
              <a:gd name="adj" fmla="val 8000"/>
            </a:avLst>
          </a:prstGeom>
          <a:solidFill>
            <a:srgbClr val="F5F1FA"/>
          </a:solidFill>
          <a:ln w="1905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4279392"/>
            <a:ext cx="31089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>
                <a:solidFill>
                  <a:srgbClr val="6A1B9A"/>
                </a:solidFill>
                <a:latin typeface="Calibri"/>
              </a:rPr>
              <a:t>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754880"/>
            <a:ext cx="31089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555E6B"/>
                </a:solidFill>
                <a:latin typeface="Calibri"/>
              </a:rPr>
              <a:t>SQLite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4114800"/>
            <a:ext cx="3474720" cy="1600200"/>
          </a:xfrm>
          <a:prstGeom prst="roundRect">
            <a:avLst>
              <a:gd name="adj" fmla="val 8000"/>
            </a:avLst>
          </a:prstGeom>
          <a:solidFill>
            <a:srgbClr val="F5F1FA"/>
          </a:solidFill>
          <a:ln w="1905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58200" y="4279392"/>
            <a:ext cx="31089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>
                <a:solidFill>
                  <a:srgbClr val="6A1B9A"/>
                </a:solidFill>
                <a:latin typeface="Calibri"/>
              </a:rPr>
              <a:t>Frontend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4754880"/>
            <a:ext cx="31089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555E6B"/>
                </a:solidFill>
                <a:latin typeface="Calibri"/>
              </a:rPr>
              <a:t>React 19 · TypeScript · Tailwind · Vite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1472"/>
            <a:ext cx="3931919" cy="66519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87552"/>
            <a:ext cx="12191695" cy="457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0" y="384048"/>
            <a:ext cx="3566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300" b="0">
                <a:solidFill>
                  <a:srgbClr val="555E6B"/>
                </a:solidFill>
                <a:latin typeface="Calibri"/>
              </a:rPr>
              <a:t>PeerLens · Mini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6A1B9A"/>
                </a:solidFill>
                <a:latin typeface="Calibri"/>
              </a:rPr>
              <a:t>Output – Upload and Live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0">
                <a:solidFill>
                  <a:srgbClr val="555E6B"/>
                </a:solidFill>
                <a:latin typeface="Calibri"/>
              </a:rPr>
              <a:t>10</a:t>
            </a:r>
          </a:p>
        </p:txBody>
      </p:sp>
      <p:pic>
        <p:nvPicPr>
          <p:cNvPr id="7" name="Picture 6" descr="s_mo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17420"/>
            <a:ext cx="5486400" cy="3429000"/>
          </a:xfrm>
          <a:prstGeom prst="rect">
            <a:avLst/>
          </a:prstGeom>
          <a:ln w="12700">
            <a:solidFill>
              <a:srgbClr val="D8D3E0"/>
            </a:solidFill>
          </a:ln>
        </p:spPr>
      </p:pic>
      <p:pic>
        <p:nvPicPr>
          <p:cNvPr id="8" name="Picture 7" descr="s_analys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092" y="1920240"/>
            <a:ext cx="4928616" cy="4023359"/>
          </a:xfrm>
          <a:prstGeom prst="rect">
            <a:avLst/>
          </a:prstGeom>
          <a:ln w="12700">
            <a:solidFill>
              <a:srgbClr val="D8D3E0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48640" y="6035040"/>
            <a:ext cx="5486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555E6B"/>
                </a:solidFill>
                <a:latin typeface="Calibri"/>
              </a:rPr>
              <a:t>Upload a paper and choose the review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6035040"/>
            <a:ext cx="5486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555E6B"/>
                </a:solidFill>
                <a:latin typeface="Calibri"/>
              </a:rPr>
              <a:t>Reviewers run while progress is shown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1472"/>
            <a:ext cx="3931919" cy="66519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87552"/>
            <a:ext cx="12191695" cy="457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0" y="384048"/>
            <a:ext cx="3566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300" b="0">
                <a:solidFill>
                  <a:srgbClr val="555E6B"/>
                </a:solidFill>
                <a:latin typeface="Calibri"/>
              </a:rPr>
              <a:t>PeerLens · Mini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6A1B9A"/>
                </a:solidFill>
                <a:latin typeface="Calibri"/>
              </a:rPr>
              <a:t>Output – Issues and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0">
                <a:solidFill>
                  <a:srgbClr val="555E6B"/>
                </a:solidFill>
                <a:latin typeface="Calibri"/>
              </a:rPr>
              <a:t>11</a:t>
            </a:r>
          </a:p>
        </p:txBody>
      </p:sp>
      <p:pic>
        <p:nvPicPr>
          <p:cNvPr id="7" name="Picture 6" descr="s_issu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" y="1920240"/>
            <a:ext cx="4928616" cy="4023359"/>
          </a:xfrm>
          <a:prstGeom prst="rect">
            <a:avLst/>
          </a:prstGeom>
          <a:ln w="12700">
            <a:solidFill>
              <a:srgbClr val="D8D3E0"/>
            </a:solidFill>
          </a:ln>
        </p:spPr>
      </p:pic>
      <p:pic>
        <p:nvPicPr>
          <p:cNvPr id="8" name="Picture 7" descr="s_evid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092" y="1920240"/>
            <a:ext cx="4928616" cy="4023359"/>
          </a:xfrm>
          <a:prstGeom prst="rect">
            <a:avLst/>
          </a:prstGeom>
          <a:ln w="12700">
            <a:solidFill>
              <a:srgbClr val="D8D3E0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48640" y="6035040"/>
            <a:ext cx="5486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555E6B"/>
                </a:solidFill>
                <a:latin typeface="Calibri"/>
              </a:rPr>
              <a:t>Issues with severity, page and quoted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6035040"/>
            <a:ext cx="5486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555E6B"/>
                </a:solidFill>
                <a:latin typeface="Calibri"/>
              </a:rPr>
              <a:t>Agentic RAG rounds with retrieved papers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1472"/>
            <a:ext cx="3931919" cy="66519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87552"/>
            <a:ext cx="12191695" cy="457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0" y="384048"/>
            <a:ext cx="3566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300" b="0">
                <a:solidFill>
                  <a:srgbClr val="555E6B"/>
                </a:solidFill>
                <a:latin typeface="Calibri"/>
              </a:rPr>
              <a:t>PeerLens · Mini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6A1B9A"/>
                </a:solidFill>
                <a:latin typeface="Calibri"/>
              </a:rPr>
              <a:t>Output – Dispute and Final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0">
                <a:solidFill>
                  <a:srgbClr val="555E6B"/>
                </a:solidFill>
                <a:latin typeface="Calibri"/>
              </a:rPr>
              <a:t>12</a:t>
            </a:r>
          </a:p>
        </p:txBody>
      </p:sp>
      <p:pic>
        <p:nvPicPr>
          <p:cNvPr id="7" name="Picture 6" descr="s_disp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402" y="1920240"/>
            <a:ext cx="5230875" cy="4023360"/>
          </a:xfrm>
          <a:prstGeom prst="rect">
            <a:avLst/>
          </a:prstGeom>
          <a:ln w="12700">
            <a:solidFill>
              <a:srgbClr val="D8D3E0"/>
            </a:solidFill>
          </a:ln>
        </p:spPr>
      </p:pic>
      <p:pic>
        <p:nvPicPr>
          <p:cNvPr id="8" name="Picture 7" descr="s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7263" y="1920240"/>
            <a:ext cx="3796274" cy="4023360"/>
          </a:xfrm>
          <a:prstGeom prst="rect">
            <a:avLst/>
          </a:prstGeom>
          <a:ln w="12700">
            <a:solidFill>
              <a:srgbClr val="D8D3E0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48640" y="6035040"/>
            <a:ext cx="5486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555E6B"/>
                </a:solidFill>
                <a:latin typeface="Calibri"/>
              </a:rPr>
              <a:t>Author disputes an issue with an argument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6035040"/>
            <a:ext cx="5486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555E6B"/>
                </a:solidFill>
                <a:latin typeface="Calibri"/>
              </a:rPr>
              <a:t>Generated review report with remediation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1472"/>
            <a:ext cx="3931919" cy="66519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87552"/>
            <a:ext cx="12191695" cy="457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0" y="384048"/>
            <a:ext cx="3566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300" b="0">
                <a:solidFill>
                  <a:srgbClr val="555E6B"/>
                </a:solidFill>
                <a:latin typeface="Calibri"/>
              </a:rPr>
              <a:t>PeerLens · Mini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6A1B9A"/>
                </a:solidFill>
                <a:latin typeface="Calibri"/>
              </a:rP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0">
                <a:solidFill>
                  <a:srgbClr val="555E6B"/>
                </a:solidFill>
                <a:latin typeface="Calibri"/>
              </a:rPr>
              <a:t>13</a:t>
            </a:r>
          </a:p>
        </p:txBody>
      </p:sp>
      <p:pic>
        <p:nvPicPr>
          <p:cNvPr id="7" name="Picture 6" descr="chart_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55800"/>
            <a:ext cx="7315200" cy="42265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46720" y="1874519"/>
            <a:ext cx="3657600" cy="960120"/>
          </a:xfrm>
          <a:prstGeom prst="roundRect">
            <a:avLst>
              <a:gd name="adj" fmla="val 12000"/>
            </a:avLst>
          </a:prstGeom>
          <a:solidFill>
            <a:srgbClr val="F5F1F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83879" y="1920239"/>
            <a:ext cx="3383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6A1B9A"/>
                </a:solidFill>
                <a:latin typeface="Calibri"/>
              </a:rPr>
              <a:t>9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395726"/>
            <a:ext cx="3383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555E6B"/>
                </a:solidFill>
                <a:latin typeface="Calibri"/>
              </a:rPr>
              <a:t>BrainGAN mistakes found in every run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990087"/>
            <a:ext cx="3657600" cy="960120"/>
          </a:xfrm>
          <a:prstGeom prst="roundRect">
            <a:avLst>
              <a:gd name="adj" fmla="val 12000"/>
            </a:avLst>
          </a:prstGeom>
          <a:solidFill>
            <a:srgbClr val="F5F1F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83879" y="3035807"/>
            <a:ext cx="3383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6A1B9A"/>
                </a:solidFill>
                <a:latin typeface="Calibri"/>
              </a:rPr>
              <a:t>≈ 12 / 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511294"/>
            <a:ext cx="3383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555E6B"/>
                </a:solidFill>
                <a:latin typeface="Calibri"/>
              </a:rPr>
              <a:t>Hyperspectral mistakes (default model)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105655"/>
            <a:ext cx="3657600" cy="960120"/>
          </a:xfrm>
          <a:prstGeom prst="roundRect">
            <a:avLst>
              <a:gd name="adj" fmla="val 12000"/>
            </a:avLst>
          </a:prstGeom>
          <a:solidFill>
            <a:srgbClr val="F5F1FA"/>
          </a:solidFill>
          <a:ln>
            <a:solidFill>
              <a:srgbClr val="0F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9" y="4151375"/>
            <a:ext cx="3383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0F857E"/>
                </a:solidFill>
                <a:latin typeface="Calibri"/>
              </a:rPr>
              <a:t>17 / 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626862"/>
            <a:ext cx="3383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555E6B"/>
                </a:solidFill>
                <a:latin typeface="Calibri"/>
              </a:rPr>
              <a:t>found by Gemini 3.8 Flash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5221223"/>
            <a:ext cx="3657600" cy="960120"/>
          </a:xfrm>
          <a:prstGeom prst="roundRect">
            <a:avLst>
              <a:gd name="adj" fmla="val 12000"/>
            </a:avLst>
          </a:prstGeom>
          <a:solidFill>
            <a:srgbClr val="F5F1F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83879" y="5266943"/>
            <a:ext cx="3383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6A1B9A"/>
                </a:solidFill>
                <a:latin typeface="Calibri"/>
              </a:rPr>
              <a:t>175 / 175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5742430"/>
            <a:ext cx="3383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555E6B"/>
                </a:solidFill>
                <a:latin typeface="Calibri"/>
              </a:rPr>
              <a:t>automated tests passing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1472"/>
            <a:ext cx="3931919" cy="66519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87552"/>
            <a:ext cx="12191695" cy="457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0" y="384048"/>
            <a:ext cx="3566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300" b="0">
                <a:solidFill>
                  <a:srgbClr val="555E6B"/>
                </a:solidFill>
                <a:latin typeface="Calibri"/>
              </a:rPr>
              <a:t>PeerLens · Mini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6A1B9A"/>
                </a:solidFill>
                <a:latin typeface="Calibri"/>
              </a:rPr>
              <a:t>Conclusion and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0">
                <a:solidFill>
                  <a:srgbClr val="555E6B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1206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F857E"/>
                </a:solidFill>
                <a:latin typeface="Calibri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6A1B9A"/>
                </a:solidFill>
                <a:latin typeface="Calibri"/>
              </a:rPr>
              <a:t>▪  </a:t>
            </a:r>
            <a:r>
              <a:rPr sz="1700" b="0">
                <a:solidFill>
                  <a:srgbClr val="1F232B"/>
                </a:solidFill>
                <a:latin typeface="Calibri"/>
              </a:rPr>
              <a:t>Working multi-agent review system with a web interface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6A1B9A"/>
                </a:solidFill>
                <a:latin typeface="Calibri"/>
              </a:rPr>
              <a:t>▪  </a:t>
            </a:r>
            <a:r>
              <a:rPr sz="1700" b="0">
                <a:solidFill>
                  <a:srgbClr val="1F232B"/>
                </a:solidFill>
                <a:latin typeface="Calibri"/>
              </a:rPr>
              <a:t>Finds most injected mistakes, each backed by a quote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6A1B9A"/>
                </a:solidFill>
                <a:latin typeface="Calibri"/>
              </a:rPr>
              <a:t>▪  </a:t>
            </a:r>
            <a:r>
              <a:rPr sz="1700" b="0">
                <a:solidFill>
                  <a:srgbClr val="1F232B"/>
                </a:solidFill>
                <a:latin typeface="Calibri"/>
              </a:rPr>
              <a:t>Three retrieval modes compared, Agentic RAG fully traceable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6A1B9A"/>
                </a:solidFill>
                <a:latin typeface="Calibri"/>
              </a:rPr>
              <a:t>▪  </a:t>
            </a:r>
            <a:r>
              <a:rPr sz="1700" b="0">
                <a:solidFill>
                  <a:srgbClr val="1F232B"/>
                </a:solidFill>
                <a:latin typeface="Calibri"/>
              </a:rPr>
              <a:t>Author stays in control of every finding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1206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F857E"/>
                </a:solidFill>
                <a:latin typeface="Calibri"/>
              </a:rPr>
              <a:t>Future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6A1B9A"/>
                </a:solidFill>
                <a:latin typeface="Calibri"/>
              </a:rPr>
              <a:t>▪  </a:t>
            </a:r>
            <a:r>
              <a:rPr sz="1700" b="0">
                <a:solidFill>
                  <a:srgbClr val="1F232B"/>
                </a:solidFill>
                <a:latin typeface="Calibri"/>
              </a:rPr>
              <a:t>More reviewer agents (ethics, statistics, style)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6A1B9A"/>
                </a:solidFill>
                <a:latin typeface="Calibri"/>
              </a:rPr>
              <a:t>▪  </a:t>
            </a:r>
            <a:r>
              <a:rPr sz="1700" b="0">
                <a:solidFill>
                  <a:srgbClr val="1F232B"/>
                </a:solidFill>
                <a:latin typeface="Calibri"/>
              </a:rPr>
              <a:t>Wider literature search beyond arXiv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6A1B9A"/>
                </a:solidFill>
                <a:latin typeface="Calibri"/>
              </a:rPr>
              <a:t>▪  </a:t>
            </a:r>
            <a:r>
              <a:rPr sz="1700" b="0">
                <a:solidFill>
                  <a:srgbClr val="1F232B"/>
                </a:solidFill>
                <a:latin typeface="Calibri"/>
              </a:rPr>
              <a:t>Supervisor and team workspace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6A1B9A"/>
                </a:solidFill>
                <a:latin typeface="Calibri"/>
              </a:rPr>
              <a:t>▪  </a:t>
            </a:r>
            <a:r>
              <a:rPr sz="1700" b="0">
                <a:solidFill>
                  <a:srgbClr val="1F232B"/>
                </a:solidFill>
                <a:latin typeface="Calibri"/>
              </a:rPr>
              <a:t>Word / LaTeX support and regional languages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6A1B9A"/>
                </a:solidFill>
                <a:latin typeface="Calibri"/>
              </a:rPr>
              <a:t>▪  </a:t>
            </a:r>
            <a:r>
              <a:rPr sz="1700" b="0">
                <a:solidFill>
                  <a:srgbClr val="1F232B"/>
                </a:solidFill>
                <a:latin typeface="Calibri"/>
              </a:rPr>
              <a:t>Integration with college submission workflow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1472"/>
            <a:ext cx="3931919" cy="66519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87552"/>
            <a:ext cx="12191695" cy="457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0" y="384048"/>
            <a:ext cx="3566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300" b="0">
                <a:solidFill>
                  <a:srgbClr val="555E6B"/>
                </a:solidFill>
                <a:latin typeface="Calibri"/>
              </a:rPr>
              <a:t>PeerLens · Mini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0">
                <a:solidFill>
                  <a:srgbClr val="555E6B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725912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4800" b="1">
                <a:solidFill>
                  <a:srgbClr val="6A1B9A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642</Words>
  <Application>Microsoft Office PowerPoint</Application>
  <PresentationFormat>Widescreen</PresentationFormat>
  <Paragraphs>117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Gunavazhagan B</cp:lastModifiedBy>
  <cp:revision>4</cp:revision>
  <dcterms:created xsi:type="dcterms:W3CDTF">2013-01-27T09:14:16Z</dcterms:created>
  <dcterms:modified xsi:type="dcterms:W3CDTF">2026-10-05T10:53:58Z</dcterms:modified>
  <cp:category/>
</cp:coreProperties>
</file>